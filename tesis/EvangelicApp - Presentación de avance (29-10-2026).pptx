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e4e13464-75a8-dc1c-3e47-d19dfbda9926}">
          <p14:sldIdLst>
            <p14:sldId id="256"/>
            <p14:sldId id="257"/>
            <p14:sldId id="258"/>
            <p14:sldId id="259"/>
            <p14:sldId id="260"/>
          </p14:sldIdLst>
        </p14:section>
        <p14:section name="Arquitectura" id="{23510a8a-46f3-001c-c996-96fc4c5640a7}">
          <p14:sldIdLst>
            <p14:sldId id="261"/>
            <p14:sldId id="262"/>
            <p14:sldId id="263"/>
            <p14:sldId id="264"/>
          </p14:sldIdLst>
        </p14:section>
        <p14:section name="Modelo de datos" id="{67595161-1fd0-e4a5-1715-59110a50d97b}">
          <p14:sldIdLst>
            <p14:sldId id="265"/>
            <p14:sldId id="266"/>
            <p14:sldId id="267"/>
          </p14:sldIdLst>
        </p14:section>
        <p14:section name="Avance" id="{bc6df35f-7d97-b657-6d5c-a484c59a5dcb}">
          <p14:sldIdLst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Cierre" id="{a62ca958-ea47-c304-1898-afd7a11d6419}">
          <p14:sldIdLst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+mn-lt"/>
              </a:rPr>
              <a:t>Puntos de historia por sprint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Comprometidos</c:v>
                </c:pt>
              </c:strCache>
            </c:strRef>
          </c:tx>
          <c:spPr>
            <a:solidFill>
              <a:srgbClr val="6B7A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Sprint 1</c:v>
                  </c:pt>
                  <c:pt idx="1">
                    <c:v>Sprint 2</c:v>
                  </c:pt>
                  <c:pt idx="2">
                    <c:v>Sprint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</c:v>
                </c:pt>
                <c:pt idx="1">
                  <c:v>26</c:v>
                </c:pt>
                <c:pt idx="2">
                  <c:v>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Aceptados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Sprint 1</c:v>
                  </c:pt>
                  <c:pt idx="1">
                    <c:v>Sprint 2</c:v>
                  </c:pt>
                  <c:pt idx="2">
                    <c:v>Sprint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</c:v>
                </c:pt>
                <c:pt idx="1">
                  <c:v>18</c:v>
                </c:pt>
                <c:pt idx="2">
                  <c:v>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9525" cap="flat">
              <a:solidFill>
                <a:srgbClr val="E1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9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+mn-lt"/>
              </a:rPr>
              <a:t>Horas restantes al cierre de cada día (55 h planificadas)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Ideal</c:v>
                </c:pt>
              </c:strCache>
            </c:strRef>
          </c:tx>
          <c:spPr>
            <a:solidFill>
              <a:srgbClr val="6B7A90"/>
            </a:solidFill>
            <a:ln w="25400" cap="flat">
              <a:solidFill>
                <a:srgbClr val="6B7A90"/>
              </a:solidFill>
              <a:prstDash val="dash,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6B7A90"/>
              </a:solidFill>
              <a:ln w="9525" cap="flat">
                <a:solidFill>
                  <a:srgbClr val="6B7A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Inicio</c:v>
                  </c:pt>
                  <c:pt idx="1">
                    <c:v>19-10</c:v>
                  </c:pt>
                  <c:pt idx="2">
                    <c:v>20-10</c:v>
                  </c:pt>
                  <c:pt idx="3">
                    <c:v>21-10</c:v>
                  </c:pt>
                  <c:pt idx="4">
                    <c:v>22-10</c:v>
                  </c:pt>
                  <c:pt idx="5">
                    <c:v>23-10</c:v>
                  </c:pt>
                  <c:pt idx="6">
                    <c:v>26-10</c:v>
                  </c:pt>
                  <c:pt idx="7">
                    <c:v>27-10</c:v>
                  </c:pt>
                  <c:pt idx="8">
                    <c:v>28-10</c:v>
                  </c:pt>
                  <c:pt idx="9">
                    <c:v>29-10</c:v>
                  </c:pt>
                  <c:pt idx="10">
                    <c:v>30-10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55</c:v>
                </c:pt>
                <c:pt idx="1">
                  <c:v>49.5</c:v>
                </c:pt>
                <c:pt idx="2">
                  <c:v>44</c:v>
                </c:pt>
                <c:pt idx="3">
                  <c:v>38.5</c:v>
                </c:pt>
                <c:pt idx="4">
                  <c:v>33</c:v>
                </c:pt>
                <c:pt idx="5">
                  <c:v>27.5</c:v>
                </c:pt>
                <c:pt idx="6">
                  <c:v>22</c:v>
                </c:pt>
                <c:pt idx="7">
                  <c:v>16.5</c:v>
                </c:pt>
                <c:pt idx="8">
                  <c:v>11</c:v>
                </c:pt>
                <c:pt idx="9">
                  <c:v>5.5</c:v>
                </c:pt>
                <c:pt idx="10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Real</c:v>
                </c:pt>
              </c:strCache>
            </c:strRef>
          </c:tx>
          <c:spPr>
            <a:solidFill>
              <a:srgbClr val="1F3A5F"/>
            </a:solidFill>
            <a:ln w="25400" cap="flat">
              <a:solidFill>
                <a:srgbClr val="1F3A5F"/>
              </a:solidFill>
              <a:prstDash val="dash,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F3A5F"/>
              </a:solidFill>
              <a:ln w="9525" cap="flat">
                <a:solidFill>
                  <a:srgbClr val="1F3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Inicio</c:v>
                  </c:pt>
                  <c:pt idx="1">
                    <c:v>19-10</c:v>
                  </c:pt>
                  <c:pt idx="2">
                    <c:v>20-10</c:v>
                  </c:pt>
                  <c:pt idx="3">
                    <c:v>21-10</c:v>
                  </c:pt>
                  <c:pt idx="4">
                    <c:v>22-10</c:v>
                  </c:pt>
                  <c:pt idx="5">
                    <c:v>23-10</c:v>
                  </c:pt>
                  <c:pt idx="6">
                    <c:v>26-10</c:v>
                  </c:pt>
                  <c:pt idx="7">
                    <c:v>27-10</c:v>
                  </c:pt>
                  <c:pt idx="8">
                    <c:v>28-10</c:v>
                  </c:pt>
                  <c:pt idx="9">
                    <c:v>29-10</c:v>
                  </c:pt>
                  <c:pt idx="10">
                    <c:v>30-10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55</c:v>
                </c:pt>
                <c:pt idx="1">
                  <c:v>53</c:v>
                </c:pt>
                <c:pt idx="2">
                  <c:v>47</c:v>
                </c:pt>
                <c:pt idx="3">
                  <c:v>40</c:v>
                </c:pt>
                <c:pt idx="4">
                  <c:v>33</c:v>
                </c:pt>
                <c:pt idx="5">
                  <c:v>26</c:v>
                </c:pt>
                <c:pt idx="6">
                  <c:v>21</c:v>
                </c:pt>
                <c:pt idx="7">
                  <c:v>15</c:v>
                </c:pt>
                <c:pt idx="8">
                  <c:v>10</c:v>
                </c:pt>
                <c:pt idx="9">
                  <c:v>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9525" cap="flat">
              <a:solidFill>
                <a:srgbClr val="E1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9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avance de EvangelicApp al 29-10-2026. El proyecto va en el Sprint 4 de 5; el Sprint 4 cierra mañana (30-10) con la Release v1.4.0.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 historias de usuario y 187 puntos en total (63 del incremento base y 124 del alcance APT). 128 puntos terminados: base + Sprints 1 a 3, sin HU-05 ni HU-12, que no se aceptaron y volvieron al backlog. Los 36 de 'Sprint 5 y pendientes' son los 23 del Sprint 5 más HU-05 (8) y HU-12 (5).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equipo pastoral (pastor, tesorero y secretaria) trabaja con herramientas dispersas. EvangelicApp centraliza la agenda, las finanzas y la membresía en una sola plataforma con control de acceso por 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módulos, agrupados en 9 épicas del Product Backlog. Cada iglesia ve solo sus datos; el pastor delega módulos a su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roles reales: SUPER_ADMIN, MANAGER (pastor, dueño del tenant) y USUARIO (reemplaza a tesorero y secretaria, con módulos delegados). El rol MIEMBRO se eliminó en el Sprint 3 porque no tenía funcionalidad propia.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 objetivo al cierre del Sprint 5 (igual que DOC-11). Frontend y backend en repositorios separados. El navegador nunca ve el token de sesión: va en cookies httpOnly, con CSRF double-submit. El backend se conecta a Postgres como app_runtime, un rol sin BYPASSRLS, por el pooler Supavisor en modo transacción (puerto 6543). Desde el Sprint 4 el tiempo real va por Supabase Realtime (Broadcast): el backend emite por REST con la service_role y el navegador se suscribe con un token corto que emite el propio backend. Resend y el dominio propio entran en el Sprint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Detalle completo en DOC-11 (Documento de Diseño). La decisión de no adoptar @supabase/ssr se tomó en el Sprint 2: se mantiene el esquema propio de cookies httpOnly más CSRF double-submit.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Primera capa: la aplicación filtra por iglesiaId tomado del JWT. Segunda capa (Sprint 3): Row Level Security en PostgreSQL con ENABLE + FORCE. Los dos bugs encontrados por el QA fueron JwtAuthGuard (Sprint 3: los USUARIO recibían 403 en sus módulos) y RealtimeGateway (Sprint 4: rechazaba toda conexión de MANAGER o USUARIO). Ambos tenían el mismo patrón: se leía una relación antes de cargar el contexto de tenant.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entidades. Toda entidad transaccional tiene iglesiaId obligatorio con borrado en cascada; Usuario.iglesiaId es nulo solo para el SUPER_ADMIN. Departamento y Categoría son DepartamentoFinanciero y CategoriaFinanciera (1:N movimientos). MovimientoAuditLog guarda una referencia lógica al movimiento, así el log sobrevive al borrado. Evento 1:N Predicador y 1:N AsistenciaEvento.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Extracto del diccionario de datos de DOC-11. Todas las tablas de tenant llevan además id, iglesiaId y marcas de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rol de Scrum por persona, según la observación de la docente guía del 05-10. La DoD se aplica con rigor: HU-05 (WhatsApp) y HU-12 (consentimiento) no se aceptaron aunque sus tareas estaban hechas.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Carta Gantt del 10-08 al 11-12-2026. Hitos: Evaluación Fase 1 en S4 (20%), Informe de avance en S10 (20%), Informe final en S15 (30%) y Defensa ante comisión en S17 (30%). Hoy (29-10) es el jueves de la S12: el Sprint 4 cierra mañana.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Velocidad: Sprint 1 26/26, Sprint 2 18/26 y Sprint 3 21/26. Las historias que no cumplieron la Definition of Done volvieron al Product Backlog sin sprint asignado: HU-05 (WhatsApp, la plantilla no la aprobó Meta) y HU-12 (consentimiento de la Ley 21.719 sin fecha de aceptación registrada).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Sprint 4: 14 tareas, 55 horas, del 19-10 al 30-10. Va 1,5 horas por delante de la línea ideal. HU-21 llega a la Review con su criterio 2 ('sin hallazgos de severidad alta abiertos') en discusión, porque npm audit dejó vulnerabilidades altas en dependencias de runtime cuyo arreglo exige subir versiones mayores (IMP-17).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Carga: login con 15 usuarios virtuales por 30 s (348 requests) y lecturas autenticadas con 20 usuarios virtuales por 30 s (318 requests). El 92% del login recibió 429: es el rate limit funcionando, no una caída. Los dos bugs de RLS: JwtAuthGuard (Sprint 3) y RealtimeGateway (Sprint 4). Pendiente: el cron de facturación no se puede probar de punta a punta porque no tiene un trigger manual (IMP-16).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muestran los impedimentos con más impacto en el alcance. IMP-06 (un solo developer, sin revisión por pares) se mitiga probando cada caso con cada rol y verificando en la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Sprint 5 cubre HU-19, 07, 28, 06, 20, 22 y 25 (23 puntos) y cierra con la Release v2.0.0 el 13-11. La marcha blanca con una iglesia piloto está planificada para después del S14; no está hecha.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37560"/>
            <a:ext cx="69494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15468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69080"/>
            <a:ext cx="100584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EvangelicApp · Presentación de avance · Proyecto APT 2026-2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EvangelicApp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375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Plataforma de gestión para iglesias evangélicas de Chile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600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PRESENTACIÓN DE AVANCE · PROYECTO APT 2026-2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Matías Cofré · Estado al 29-10-2026 (Sprint 4, día 9 de 10)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549640" y="1691640"/>
            <a:ext cx="2926080" cy="2926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Ícono de igles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3774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Dónde estamos hoy</a:t>
            </a:r>
            <a:endParaRPr lang="en-US" sz="3400" dirty="0"/>
          </a:p>
        </p:txBody>
      </p:sp>
      <p:sp>
        <p:nvSpPr>
          <p:cNvPr id="3" name="Indicador sprints"/>
          <p:cNvSpPr/>
          <p:nvPr/>
        </p:nvSpPr>
        <p:spPr>
          <a:xfrm>
            <a:off x="548640" y="1417320"/>
            <a:ext cx="260604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de 5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sprints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Sprint 4 en el día 9 de 10; cierra el 30-10</a:t>
            </a:r>
            <a:endParaRPr lang="en-US" sz="1300" dirty="0"/>
          </a:p>
        </p:txBody>
      </p:sp>
      <p:sp>
        <p:nvSpPr>
          <p:cNvPr id="7" name="Indicador puntos de historia"/>
          <p:cNvSpPr/>
          <p:nvPr/>
        </p:nvSpPr>
        <p:spPr>
          <a:xfrm>
            <a:off x="3364992" y="1417320"/>
            <a:ext cx="260604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3592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 / 187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puntos de historia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terminados (base + Sprints 1 a 3)</a:t>
            </a:r>
            <a:endParaRPr lang="en-US" sz="1300" dirty="0"/>
          </a:p>
        </p:txBody>
      </p:sp>
      <p:sp>
        <p:nvSpPr>
          <p:cNvPr id="11" name="Indicador última release"/>
          <p:cNvSpPr/>
          <p:nvPr/>
        </p:nvSpPr>
        <p:spPr>
          <a:xfrm>
            <a:off x="6181344" y="1417320"/>
            <a:ext cx="260604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9944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v1.3.0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última release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9944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16-10: RLS multi-tenant y staging</a:t>
            </a:r>
            <a:endParaRPr lang="en-US" sz="1300" dirty="0"/>
          </a:p>
        </p:txBody>
      </p:sp>
      <p:sp>
        <p:nvSpPr>
          <p:cNvPr id="15" name="Indicador Daily registradas"/>
          <p:cNvSpPr/>
          <p:nvPr/>
        </p:nvSpPr>
        <p:spPr>
          <a:xfrm>
            <a:off x="8997696" y="1417320"/>
            <a:ext cx="2606040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26296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9226296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Daily registradas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2880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del 10-08 al 29-10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069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Avance del Product Backlog (puntos de historia)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480560"/>
            <a:ext cx="11064240" cy="411480"/>
          </a:xfrm>
          <a:prstGeom prst="roundRect">
            <a:avLst>
              <a:gd name="adj" fmla="val 2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480560"/>
            <a:ext cx="7573384" cy="411480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22024" y="4480560"/>
            <a:ext cx="1360842" cy="4114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480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68% terminado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093208"/>
            <a:ext cx="182880" cy="182880"/>
          </a:xfrm>
          <a:prstGeom prst="rect">
            <a:avLst/>
          </a:prstGeom>
          <a:solidFill>
            <a:schemeClr val="tx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029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Terminado (128)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0" y="5093208"/>
            <a:ext cx="182880" cy="182880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17520" y="5029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Sprint 4 en curso (23)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394960" y="5093208"/>
            <a:ext cx="182880" cy="18288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669280" y="5029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Sprint 5 y pendientes (36)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4864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El producto base, la autenticación con Supabase Auth, el aislamiento multi-tenant con RLS y el ambiente de staging ya están terminados.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El problema: iglesias gestionadas a mano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754880" cy="4617720"/>
          </a:xfrm>
          <a:prstGeom prst="roundRect">
            <a:avLst>
              <a:gd name="adj" fmla="val 198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6916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16,3%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6517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de la población de Chile se declara evangélica: 2.466.607 personas (Censo 2024, INE)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6576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3.819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61772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entidades religiosas registradas, más del 90% evangélicas (Subsecretaría de Justicia, vía UDP 2019)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60720" y="1554480"/>
            <a:ext cx="822960" cy="822960"/>
          </a:xfrm>
          <a:prstGeom prst="ellipse">
            <a:avLst/>
          </a:prstGeom>
          <a:solidFill>
            <a:srgbClr val="B5562B"/>
          </a:solidFill>
          <a:ln w="12700">
            <a:solidFill>
              <a:srgbClr val="B5562B"/>
            </a:solidFill>
            <a:prstDash val="solid"/>
          </a:ln>
        </p:spPr>
      </p:sp>
      <p:pic>
        <p:nvPicPr>
          <p:cNvPr id="9" name="Image 0" descr="Íco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66460" y="176022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812280" y="15544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Agenda dispersa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812280" y="19659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Cultos y eventos coordinados en papel o por WhatsApp; los predicadores se confirman por teléfono.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760720" y="3063240"/>
            <a:ext cx="822960" cy="822960"/>
          </a:xfrm>
          <a:prstGeom prst="ellipse">
            <a:avLst/>
          </a:prstGeom>
          <a:solidFill>
            <a:srgbClr val="B5562B"/>
          </a:solidFill>
          <a:ln w="12700">
            <a:solidFill>
              <a:srgbClr val="B5562B"/>
            </a:solidFill>
            <a:prstDash val="solid"/>
          </a:ln>
        </p:spPr>
      </p:sp>
      <p:pic>
        <p:nvPicPr>
          <p:cNvPr id="13" name="Image 1" descr="Ícon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460" y="326898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812280" y="30632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Finanzas sin trazabilidad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6812280" y="347472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Ingresos y egresos en cuadernos o planillas sueltas: nadie sabe quién cambió qué ni cuándo.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760720" y="4572000"/>
            <a:ext cx="822960" cy="822960"/>
          </a:xfrm>
          <a:prstGeom prst="ellipse">
            <a:avLst/>
          </a:prstGeom>
          <a:solidFill>
            <a:srgbClr val="B5562B"/>
          </a:solidFill>
          <a:ln w="12700">
            <a:solidFill>
              <a:srgbClr val="B5562B"/>
            </a:solidFill>
            <a:prstDash val="solid"/>
          </a:ln>
        </p:spPr>
      </p:sp>
      <p:pic>
        <p:nvPicPr>
          <p:cNvPr id="17" name="Image 2" descr="Ícon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460" y="47777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12280" y="45720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Membresía desactualizada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6812280" y="498348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Censo de integrantes y libros de ceremonias en papel, sin certificados ni respaldo.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La solución: una plataforma para el equipo pastoral</a:t>
            </a:r>
            <a:endParaRPr lang="en-US" sz="3400" dirty="0"/>
          </a:p>
        </p:txBody>
      </p:sp>
      <p:sp>
        <p:nvSpPr>
          <p:cNvPr id="3" name="Módulo Agenda y convocatorias"/>
          <p:cNvSpPr/>
          <p:nvPr/>
        </p:nvSpPr>
        <p:spPr>
          <a:xfrm>
            <a:off x="548640" y="1417320"/>
            <a:ext cx="352044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rgbClr val="B5562B"/>
          </a:solidFill>
          <a:ln w="12700">
            <a:solidFill>
              <a:srgbClr val="B5562B"/>
            </a:solidFill>
            <a:prstDash val="solid"/>
          </a:ln>
        </p:spPr>
      </p:sp>
      <p:pic>
        <p:nvPicPr>
          <p:cNvPr id="5" name="Image 0" descr="Íco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86309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91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Agenda y convocatorias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Eventos, predicadores y confirmación por link del correo, sin crear cuenta.</a:t>
            </a:r>
            <a:endParaRPr lang="en-US" sz="1400" dirty="0"/>
          </a:p>
        </p:txBody>
      </p:sp>
      <p:sp>
        <p:nvSpPr>
          <p:cNvPr id="8" name="Módulo Finanzas con auditoría"/>
          <p:cNvSpPr/>
          <p:nvPr/>
        </p:nvSpPr>
        <p:spPr>
          <a:xfrm>
            <a:off x="4297680" y="1417320"/>
            <a:ext cx="352044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0" y="1691640"/>
            <a:ext cx="685800" cy="685800"/>
          </a:xfrm>
          <a:prstGeom prst="ellipse">
            <a:avLst/>
          </a:prstGeom>
          <a:solidFill>
            <a:srgbClr val="4F7A4A"/>
          </a:solidFill>
          <a:ln w="12700">
            <a:solidFill>
              <a:srgbClr val="4F7A4A"/>
            </a:solidFill>
            <a:prstDash val="solid"/>
          </a:ln>
        </p:spPr>
      </p:sp>
      <p:pic>
        <p:nvPicPr>
          <p:cNvPr id="10" name="Image 1" descr="Ícon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186309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1691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Finanzas con auditoría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514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Ingresos y egresos por categoría y departamento, log inmutable y export a Excel.</a:t>
            </a:r>
            <a:endParaRPr lang="en-US" sz="1400" dirty="0"/>
          </a:p>
        </p:txBody>
      </p:sp>
      <p:sp>
        <p:nvSpPr>
          <p:cNvPr id="13" name="Módulo Notas y tareas"/>
          <p:cNvSpPr/>
          <p:nvPr/>
        </p:nvSpPr>
        <p:spPr>
          <a:xfrm>
            <a:off x="8046720" y="1417320"/>
            <a:ext cx="352044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321040" y="1691640"/>
            <a:ext cx="685800" cy="685800"/>
          </a:xfrm>
          <a:prstGeom prst="ellipse">
            <a:avLst/>
          </a:prstGeom>
          <a:solidFill>
            <a:srgbClr val="7A5C99"/>
          </a:solidFill>
          <a:ln w="12700">
            <a:solidFill>
              <a:srgbClr val="7A5C99"/>
            </a:solidFill>
            <a:prstDash val="solid"/>
          </a:ln>
        </p:spPr>
      </p:sp>
      <p:pic>
        <p:nvPicPr>
          <p:cNvPr id="15" name="Image 2" descr="Ícon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2490" y="186309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44000" y="16916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Notas y tareas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5146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Notas internas y tareas asignadas dentro del equipo pastoral.</a:t>
            </a:r>
            <a:endParaRPr lang="en-US" sz="1400" dirty="0"/>
          </a:p>
        </p:txBody>
      </p:sp>
      <p:sp>
        <p:nvSpPr>
          <p:cNvPr id="18" name="Módulo Membresía y ceremonias"/>
          <p:cNvSpPr/>
          <p:nvPr/>
        </p:nvSpPr>
        <p:spPr>
          <a:xfrm>
            <a:off x="548640" y="3794760"/>
            <a:ext cx="352044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2960" y="4069080"/>
            <a:ext cx="685800" cy="685800"/>
          </a:xfrm>
          <a:prstGeom prst="ellipse">
            <a:avLst/>
          </a:prstGeom>
          <a:solidFill>
            <a:srgbClr val="2E6E8E"/>
          </a:solidFill>
          <a:ln w="12700">
            <a:solidFill>
              <a:srgbClr val="2E6E8E"/>
            </a:solidFill>
            <a:prstDash val="solid"/>
          </a:ln>
        </p:spPr>
      </p:sp>
      <p:pic>
        <p:nvPicPr>
          <p:cNvPr id="20" name="Image 3" descr="Ícon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10" y="4240530"/>
            <a:ext cx="342900" cy="3429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45920" y="4069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Membresía y ceremonias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892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Registro de integrantes por QR y certificados PDF de bautizos, matrimonios y más.</a:t>
            </a:r>
            <a:endParaRPr lang="en-US" sz="1400" dirty="0"/>
          </a:p>
        </p:txBody>
      </p:sp>
      <p:sp>
        <p:nvSpPr>
          <p:cNvPr id="23" name="Módulo Operación y facturación"/>
          <p:cNvSpPr/>
          <p:nvPr/>
        </p:nvSpPr>
        <p:spPr>
          <a:xfrm>
            <a:off x="4297680" y="3794760"/>
            <a:ext cx="352044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72000" y="4069080"/>
            <a:ext cx="685800" cy="68580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pic>
        <p:nvPicPr>
          <p:cNvPr id="25" name="Image 4" descr="Ícon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4240530"/>
            <a:ext cx="342900" cy="3429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94960" y="4069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Operación y facturación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4892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Planes Básico, Medio y Pro, bloqueo por mora y dashboards de KPIs por rol.</a:t>
            </a:r>
            <a:endParaRPr lang="en-US" sz="1400" dirty="0"/>
          </a:p>
        </p:txBody>
      </p:sp>
      <p:sp>
        <p:nvSpPr>
          <p:cNvPr id="28" name="Módulo Tiempo real"/>
          <p:cNvSpPr/>
          <p:nvPr/>
        </p:nvSpPr>
        <p:spPr>
          <a:xfrm>
            <a:off x="8046720" y="3794760"/>
            <a:ext cx="3520440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321040" y="4069080"/>
            <a:ext cx="685800" cy="685800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pic>
        <p:nvPicPr>
          <p:cNvPr id="30" name="Image 5" descr="Ícon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2490" y="4240530"/>
            <a:ext cx="342900" cy="3429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144000" y="4069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Tiempo real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48920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Dashboard, vista del evento y censo que se actualizan en vivo.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Cada iglesia es un espacio aislado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4008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SUPER_ADMIN · equipo de EvangelicApp</a:t>
            </a:r>
            <a:endParaRPr lang="en-US" sz="12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Da de alta iglesias, ve KPIs nacionales y da soporte; no ve las finanzas internas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 flipH="1">
            <a:off x="1554480" y="2331720"/>
            <a:ext cx="2194560" cy="4572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5" name="Grupo Iglesia A"/>
          <p:cNvSpPr/>
          <p:nvPr/>
        </p:nvSpPr>
        <p:spPr>
          <a:xfrm>
            <a:off x="548640" y="283464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2E6E8E">
              <a:alpha val="10000"/>
            </a:srgbClr>
          </a:solidFill>
          <a:ln w="12700">
            <a:solidFill>
              <a:srgbClr val="2E6E8E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685800" y="2926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6E8E"/>
                </a:solidFill>
              </a:rPr>
              <a:t>Iglesia 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9184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MANAGER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Pastor (dueño)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20624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USUARIO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Tesorero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12064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USUARIO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Secretaria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49040" y="2331720"/>
            <a:ext cx="0" cy="4572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Grupo Iglesia B"/>
          <p:cNvSpPr/>
          <p:nvPr/>
        </p:nvSpPr>
        <p:spPr>
          <a:xfrm>
            <a:off x="2743200" y="283464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2E6E8E">
              <a:alpha val="10000"/>
            </a:srgbClr>
          </a:solidFill>
          <a:ln w="12700">
            <a:solidFill>
              <a:srgbClr val="2E6E8E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2880360" y="2926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6E8E"/>
                </a:solidFill>
              </a:rPr>
              <a:t>Iglesia B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880360" y="329184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MANAGER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Pastor (dueño)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420624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USUARIO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Tesorero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512064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USUARIO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Secretaria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49040" y="2331720"/>
            <a:ext cx="2194560" cy="45720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7" name="Grupo Iglesia C"/>
          <p:cNvSpPr/>
          <p:nvPr/>
        </p:nvSpPr>
        <p:spPr>
          <a:xfrm>
            <a:off x="4937760" y="283464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2E6E8E">
              <a:alpha val="10000"/>
            </a:srgbClr>
          </a:solidFill>
          <a:ln w="12700">
            <a:solidFill>
              <a:srgbClr val="2E6E8E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5074920" y="29260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6E8E"/>
                </a:solidFill>
              </a:rPr>
              <a:t>Iglesia C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74920" y="329184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MANAGER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Pastor (dueño)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074920" y="420624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USUARIO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Tesorero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074920" y="512064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5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USUARIO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Secretaria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14173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Alta de una iglesia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498080" y="1965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19202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SuperAdmin crea la iglesia y su pastor en una sola transacción.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98080" y="2971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138160" y="29260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pastor entra con una clave temporal y la cambia.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498080" y="3977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980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138160" y="39319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Completa el onboarding: datos personales y tamaño de la congregación.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498080" y="4983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49808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8138160" y="493776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Invita a su equipo y le delega módulos: Agenda, Finanzas, Ceremonias o Integrantes.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154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Arquitectura y seguridad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69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Cómo está construida la plataforma y cómo protege los datos de cada iglesia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Arquitectura de la solución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709160" y="1417320"/>
            <a:ext cx="0" cy="96012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4709160" y="1417320"/>
            <a:ext cx="653796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1247120" y="1417320"/>
            <a:ext cx="0" cy="45720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dash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5486400" y="111556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WebSocket del navegador a Supabase Realtime (token corto de 30 min)</a:t>
            </a:r>
            <a:endParaRPr lang="en-US" sz="1100" dirty="0"/>
          </a:p>
        </p:txBody>
      </p:sp>
      <p:sp>
        <p:nvSpPr>
          <p:cNvPr id="7" name="Grupo Clientes"/>
          <p:cNvSpPr/>
          <p:nvPr/>
        </p:nvSpPr>
        <p:spPr>
          <a:xfrm>
            <a:off x="502920" y="1600200"/>
            <a:ext cx="2103120" cy="3017520"/>
          </a:xfrm>
          <a:prstGeom prst="roundRect">
            <a:avLst>
              <a:gd name="adj" fmla="val 4348"/>
            </a:avLst>
          </a:prstGeom>
          <a:solidFill>
            <a:srgbClr val="6B7A90">
              <a:alpha val="10000"/>
            </a:srgbClr>
          </a:solidFill>
          <a:ln w="12700">
            <a:solidFill>
              <a:srgbClr val="6B7A9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4008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A90"/>
                </a:solidFill>
              </a:rPr>
              <a:t>Clientes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10312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Navegador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Pastor · Tesorero · Secretaria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42900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Integrante o predicador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QR o link del correo</a:t>
            </a:r>
            <a:endParaRPr lang="en-US" sz="1200" dirty="0"/>
          </a:p>
        </p:txBody>
      </p:sp>
      <p:sp>
        <p:nvSpPr>
          <p:cNvPr id="11" name="Grupo Cloudflare Workers"/>
          <p:cNvSpPr/>
          <p:nvPr/>
        </p:nvSpPr>
        <p:spPr>
          <a:xfrm>
            <a:off x="2971800" y="1600200"/>
            <a:ext cx="2103120" cy="3017520"/>
          </a:xfrm>
          <a:prstGeom prst="roundRect">
            <a:avLst>
              <a:gd name="adj" fmla="val 4348"/>
            </a:avLst>
          </a:prstGeom>
          <a:solidFill>
            <a:srgbClr val="B5562B">
              <a:alpha val="10000"/>
            </a:srgbClr>
          </a:solidFill>
          <a:ln w="12700">
            <a:solidFill>
              <a:srgbClr val="B5562B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310896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5562B"/>
                </a:solidFill>
              </a:rPr>
              <a:t>Cloudflare Workers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2377440"/>
            <a:ext cx="173736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Frontend Next.js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app.evangelicapp.cl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23160" y="2560320"/>
            <a:ext cx="731520" cy="2286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2423160" y="3429000"/>
            <a:ext cx="731520" cy="45720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2468880" y="22402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HTTPS</a:t>
            </a:r>
            <a:endParaRPr lang="en-US" sz="1000" dirty="0"/>
          </a:p>
        </p:txBody>
      </p:sp>
      <p:sp>
        <p:nvSpPr>
          <p:cNvPr id="17" name="Grupo Render · API NestJS (api.evangelicapp.cl)"/>
          <p:cNvSpPr/>
          <p:nvPr/>
        </p:nvSpPr>
        <p:spPr>
          <a:xfrm>
            <a:off x="5440680" y="1600200"/>
            <a:ext cx="3337560" cy="3017520"/>
          </a:xfrm>
          <a:prstGeom prst="roundRect">
            <a:avLst>
              <a:gd name="adj" fmla="val 3030"/>
            </a:avLst>
          </a:prstGeom>
          <a:solidFill>
            <a:srgbClr val="1F3A5F">
              <a:alpha val="10000"/>
            </a:srgbClr>
          </a:solidFill>
          <a:ln w="12700">
            <a:solidFill>
              <a:srgbClr val="1F3A5F"/>
            </a:solidFill>
            <a:prstDash val="dash"/>
          </a:ln>
        </p:spPr>
      </p:sp>
      <p:sp>
        <p:nvSpPr>
          <p:cNvPr id="18" name="Text 16"/>
          <p:cNvSpPr txBox="1"/>
          <p:nvPr/>
        </p:nvSpPr>
        <p:spPr>
          <a:xfrm>
            <a:off x="5577840" y="16916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</a:rPr>
              <a:t>Render · API NestJS (api.evangelicapp.cl)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2011680"/>
            <a:ext cx="950976" cy="292608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auth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647688" y="2011680"/>
            <a:ext cx="950976" cy="292608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usuarios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671816" y="2011680"/>
            <a:ext cx="950976" cy="292608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accesos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2377440"/>
            <a:ext cx="950976" cy="292608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agenda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647688" y="2377440"/>
            <a:ext cx="950976" cy="292608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finanzas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671816" y="2377440"/>
            <a:ext cx="950976" cy="292608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notas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623560" y="2743200"/>
            <a:ext cx="950976" cy="292608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ceremonias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647688" y="2743200"/>
            <a:ext cx="950976" cy="292608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integrantes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671816" y="2743200"/>
            <a:ext cx="950976" cy="292608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iglesias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623560" y="3108960"/>
            <a:ext cx="950976" cy="292608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super-admin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647688" y="3108960"/>
            <a:ext cx="950976" cy="292608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dashboard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671816" y="3108960"/>
            <a:ext cx="950976" cy="292608"/>
          </a:xfrm>
          <a:prstGeom prst="roundRect">
            <a:avLst>
              <a:gd name="adj" fmla="val 15625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realtime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623560" y="3566160"/>
            <a:ext cx="2971800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Guards: JWT (JWKS) · roles · módulos · CSRF · rate limit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5623560" y="4069080"/>
            <a:ext cx="2971800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Prisma 5 · contexto de tenant por request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92040" y="3063240"/>
            <a:ext cx="54864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4846320" y="27889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REST</a:t>
            </a:r>
            <a:endParaRPr lang="en-US" sz="1000" dirty="0"/>
          </a:p>
        </p:txBody>
      </p:sp>
      <p:sp>
        <p:nvSpPr>
          <p:cNvPr id="35" name="Grupo Supabase"/>
          <p:cNvSpPr/>
          <p:nvPr/>
        </p:nvSpPr>
        <p:spPr>
          <a:xfrm>
            <a:off x="9098280" y="1600200"/>
            <a:ext cx="2560320" cy="3383280"/>
          </a:xfrm>
          <a:prstGeom prst="roundRect">
            <a:avLst>
              <a:gd name="adj" fmla="val 3571"/>
            </a:avLst>
          </a:prstGeom>
          <a:solidFill>
            <a:srgbClr val="4F7A4A">
              <a:alpha val="10000"/>
            </a:srgbClr>
          </a:solidFill>
          <a:ln w="12700">
            <a:solidFill>
              <a:srgbClr val="4F7A4A"/>
            </a:solidFill>
            <a:prstDash val="dash"/>
          </a:ln>
        </p:spPr>
      </p:sp>
      <p:sp>
        <p:nvSpPr>
          <p:cNvPr id="36" name="Text 34"/>
          <p:cNvSpPr txBox="1"/>
          <p:nvPr/>
        </p:nvSpPr>
        <p:spPr>
          <a:xfrm>
            <a:off x="923544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F7A4A"/>
                </a:solidFill>
              </a:rPr>
              <a:t>Supabase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281160" y="1920240"/>
            <a:ext cx="219456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Realtime</a:t>
            </a:r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 · Broadcast + RLS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281160" y="2560320"/>
            <a:ext cx="219456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PostgreSQL 16 + RLS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rol app_runtime · pooler 6543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281160" y="3611880"/>
            <a:ext cx="219456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Auth</a:t>
            </a:r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 · GoTrue / JWKS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9281160" y="4251960"/>
            <a:ext cx="219456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Storage</a:t>
            </a:r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 · logos, fotos, PDF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778240" y="2167128"/>
            <a:ext cx="5029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778240" y="3017520"/>
            <a:ext cx="5029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778240" y="3858768"/>
            <a:ext cx="5029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778240" y="4480560"/>
            <a:ext cx="50292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5" name="Grupo Desarrollo y calidad"/>
          <p:cNvSpPr/>
          <p:nvPr/>
        </p:nvSpPr>
        <p:spPr>
          <a:xfrm>
            <a:off x="502920" y="5074920"/>
            <a:ext cx="4572000" cy="1097280"/>
          </a:xfrm>
          <a:prstGeom prst="roundRect">
            <a:avLst>
              <a:gd name="adj" fmla="val 8333"/>
            </a:avLst>
          </a:prstGeom>
          <a:solidFill>
            <a:srgbClr val="6B7A90">
              <a:alpha val="10000"/>
            </a:srgbClr>
          </a:solidFill>
          <a:ln w="12700">
            <a:solidFill>
              <a:srgbClr val="6B7A90"/>
            </a:solidFill>
            <a:prstDash val="dash"/>
          </a:ln>
        </p:spPr>
      </p:sp>
      <p:sp>
        <p:nvSpPr>
          <p:cNvPr id="46" name="Text 44"/>
          <p:cNvSpPr txBox="1"/>
          <p:nvPr/>
        </p:nvSpPr>
        <p:spPr>
          <a:xfrm>
            <a:off x="640080" y="51663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A90"/>
                </a:solidFill>
              </a:rPr>
              <a:t>Desarrollo y calidad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85800" y="5440680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GitHub Actions: lint · build · test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2194560" y="5440680"/>
            <a:ext cx="13716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docker-compose: Postgres 16 local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3703320" y="5440680"/>
            <a:ext cx="118872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k6: pruebas de carga</a:t>
            </a:r>
            <a:endParaRPr lang="en-US" sz="1000" dirty="0"/>
          </a:p>
        </p:txBody>
      </p:sp>
      <p:sp>
        <p:nvSpPr>
          <p:cNvPr id="50" name="Grupo Servicios externos"/>
          <p:cNvSpPr/>
          <p:nvPr/>
        </p:nvSpPr>
        <p:spPr>
          <a:xfrm>
            <a:off x="5440680" y="5074920"/>
            <a:ext cx="3337560" cy="1097280"/>
          </a:xfrm>
          <a:prstGeom prst="roundRect">
            <a:avLst>
              <a:gd name="adj" fmla="val 8333"/>
            </a:avLst>
          </a:prstGeom>
          <a:solidFill>
            <a:srgbClr val="6B7A90">
              <a:alpha val="10000"/>
            </a:srgbClr>
          </a:solidFill>
          <a:ln w="12700">
            <a:solidFill>
              <a:srgbClr val="6B7A90"/>
            </a:solidFill>
            <a:prstDash val="dash"/>
          </a:ln>
        </p:spPr>
      </p:sp>
      <p:sp>
        <p:nvSpPr>
          <p:cNvPr id="51" name="Text 49"/>
          <p:cNvSpPr txBox="1"/>
          <p:nvPr/>
        </p:nvSpPr>
        <p:spPr>
          <a:xfrm>
            <a:off x="5577840" y="51663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A90"/>
                </a:solidFill>
              </a:rPr>
              <a:t>Servicios externos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5623560" y="5440680"/>
            <a:ext cx="29718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2700"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Resend: correo transaccional (Sprint 5)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132320" y="4617720"/>
            <a:ext cx="0" cy="8229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Stack tecnológico y decisiones clave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0350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2976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Capa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Tecnología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Frontend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Next.js (React, TypeScript) en Cloudflare Workers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Backend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NestJS 10, TypeScript 5, Prisma 5 en Render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Base de datos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PostgreSQL 16 con RLS (Supabase)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Autenticación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Supabase Auth, JWT verificado con JWKS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Archivos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Supabase Storage + sharp (redimensiona)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Tiempo real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Supabase Realtime (Broadcast)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Calidad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GitHub Actions (CI) · k6 · staging aislado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949440" y="1417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Decisiones de arquitectura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6949440" y="1920240"/>
            <a:ext cx="4663440" cy="886968"/>
          </a:xfrm>
          <a:prstGeom prst="roundRect">
            <a:avLst>
              <a:gd name="adj" fmla="val 82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132320" y="20116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Una sola base, iglesiaId en cada tabla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132320" y="23500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Operar muchas iglesias pequeñas a bajo costo.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949440" y="2944368"/>
            <a:ext cx="4663440" cy="886968"/>
          </a:xfrm>
          <a:prstGeom prst="roundRect">
            <a:avLst>
              <a:gd name="adj" fmla="val 82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0" y="30358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Sesión en cookies httpOnly + CSRF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337413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 token no queda expuesto al JavaScript del navegador.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949440" y="3968496"/>
            <a:ext cx="4663440" cy="886968"/>
          </a:xfrm>
          <a:prstGeom prst="roundRect">
            <a:avLst>
              <a:gd name="adj" fmla="val 82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132320" y="405993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Auditoría con snapshot JSON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132320" y="4398264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Cada movimiento financiero deja rastro, aunque se elimine.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949440" y="4992624"/>
            <a:ext cx="4663440" cy="886968"/>
          </a:xfrm>
          <a:prstGeom prst="roundRect">
            <a:avLst>
              <a:gd name="adj" fmla="val 82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32320" y="508406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Realtime con Supabase Broadcast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132320" y="54223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Menos infraestructura propia; autorizado por RLS.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Seguridad: aislamiento en dos capas</a:t>
            </a:r>
            <a:endParaRPr lang="en-US" sz="3400" dirty="0"/>
          </a:p>
        </p:txBody>
      </p:sp>
      <p:sp>
        <p:nvSpPr>
          <p:cNvPr id="3" name="Paso Navegador"/>
          <p:cNvSpPr/>
          <p:nvPr/>
        </p:nvSpPr>
        <p:spPr>
          <a:xfrm>
            <a:off x="548640" y="1463040"/>
            <a:ext cx="1965960" cy="26517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61288" y="1691640"/>
            <a:ext cx="731520" cy="73152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pic>
        <p:nvPicPr>
          <p:cNvPr id="5" name="Image 0" descr="Íco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256032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Navegador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2971800"/>
            <a:ext cx="1746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Cookie httpOnly + token CSRF en cada request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532888" y="2788920"/>
            <a:ext cx="26517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Paso JwtAuthGuard"/>
          <p:cNvSpPr/>
          <p:nvPr/>
        </p:nvSpPr>
        <p:spPr>
          <a:xfrm>
            <a:off x="2816352" y="1463040"/>
            <a:ext cx="1965960" cy="26517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29000" y="1691640"/>
            <a:ext cx="731520" cy="73152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pic>
        <p:nvPicPr>
          <p:cNvPr id="11" name="Image 1" descr="Ícon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8745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26080" y="256032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JwtAuthGuard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926080" y="2971800"/>
            <a:ext cx="1746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Verifica el JWT (JWKS) y revalida usuario, iglesia y módulos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800600" y="2788920"/>
            <a:ext cx="26517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Paso Contexto de tenant"/>
          <p:cNvSpPr/>
          <p:nvPr/>
        </p:nvSpPr>
        <p:spPr>
          <a:xfrm>
            <a:off x="5084064" y="1463040"/>
            <a:ext cx="1965960" cy="26517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696712" y="1691640"/>
            <a:ext cx="731520" cy="73152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pic>
        <p:nvPicPr>
          <p:cNvPr id="17" name="Image 2" descr="Ícon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18745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93792" y="256032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Contexto de tenant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193792" y="2971800"/>
            <a:ext cx="1746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iglesiaId y rol salen del JWT, nunca del request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068312" y="2788920"/>
            <a:ext cx="26517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Paso Prisma ($extends)"/>
          <p:cNvSpPr/>
          <p:nvPr/>
        </p:nvSpPr>
        <p:spPr>
          <a:xfrm>
            <a:off x="7351776" y="1463040"/>
            <a:ext cx="1965960" cy="2651760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964424" y="1691640"/>
            <a:ext cx="731520" cy="73152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pic>
        <p:nvPicPr>
          <p:cNvPr id="23" name="Image 3" descr="Ícon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4" y="187452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461504" y="256032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Prisma ($extends)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7461504" y="2971800"/>
            <a:ext cx="1746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set_config en cada consulta, dentro de la transacción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9336024" y="2788920"/>
            <a:ext cx="265176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Paso PostgreSQL + RLS"/>
          <p:cNvSpPr/>
          <p:nvPr/>
        </p:nvSpPr>
        <p:spPr>
          <a:xfrm>
            <a:off x="9619488" y="1463040"/>
            <a:ext cx="1965960" cy="2651760"/>
          </a:xfrm>
          <a:prstGeom prst="roundRect">
            <a:avLst>
              <a:gd name="adj" fmla="val 4651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10232136" y="1691640"/>
            <a:ext cx="731520" cy="731520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pic>
        <p:nvPicPr>
          <p:cNvPr id="29" name="Image 4" descr="Ícon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5016" y="187452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729216" y="256032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PostgreSQL + RLS</a:t>
            </a:r>
            <a:endParaRPr lang="en-US" sz="1500" dirty="0"/>
          </a:p>
        </p:txBody>
      </p:sp>
      <p:sp>
        <p:nvSpPr>
          <p:cNvPr id="31" name="Text 24"/>
          <p:cNvSpPr txBox="1"/>
          <p:nvPr/>
        </p:nvSpPr>
        <p:spPr>
          <a:xfrm>
            <a:off x="9729216" y="2971800"/>
            <a:ext cx="1746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Policy tenant_isolation; rol app_runtime sin BYPASSRLS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548640" y="4434840"/>
            <a:ext cx="5394960" cy="1600200"/>
          </a:xfrm>
          <a:prstGeom prst="roundRect">
            <a:avLst>
              <a:gd name="adj" fmla="val 5714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77724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Fail-closed</a:t>
            </a:r>
            <a:endParaRPr lang="en-US" sz="1800" dirty="0"/>
          </a:p>
        </p:txBody>
      </p:sp>
      <p:sp>
        <p:nvSpPr>
          <p:cNvPr id="34" name="Text 27"/>
          <p:cNvSpPr txBox="1"/>
          <p:nvPr/>
        </p:nvSpPr>
        <p:spPr>
          <a:xfrm>
            <a:off x="777240" y="498348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 una consulta olvida filtrar por iglesia, la base de datos igual no entrega datos de otra iglesia. Sin contexto de tenant, toda consulta devuelve 0 filas.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6217920" y="4434840"/>
            <a:ext cx="5394960" cy="1600200"/>
          </a:xfrm>
          <a:prstGeom prst="roundRect">
            <a:avLst>
              <a:gd name="adj" fmla="val 5714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644652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Verificado con cada rol</a:t>
            </a:r>
            <a:endParaRPr lang="en-US" sz="1800" dirty="0"/>
          </a:p>
        </p:txBody>
      </p:sp>
      <p:sp>
        <p:nvSpPr>
          <p:cNvPr id="37" name="Text 30"/>
          <p:cNvSpPr txBox="1"/>
          <p:nvPr/>
        </p:nvSpPr>
        <p:spPr>
          <a:xfrm>
            <a:off x="6446520" y="498348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 SQL (SET ROLE app_runtime) y por HTTP contra staging. Las pruebas por rol encontraron y corrigieron 2 bugs de RLS antes de producción.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154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Modelo de datos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69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20 entidades en PostgreSQL, todas colgando de la iglesia (tenant raíz)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Modelo entidad-relación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 flipH="1" flipV="1">
            <a:off x="3977640" y="2788920"/>
            <a:ext cx="1143000" cy="50292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none"/>
          </a:ln>
        </p:spPr>
      </p:sp>
      <p:sp>
        <p:nvSpPr>
          <p:cNvPr id="4" name="Shape 2"/>
          <p:cNvSpPr/>
          <p:nvPr/>
        </p:nvSpPr>
        <p:spPr>
          <a:xfrm flipV="1">
            <a:off x="7040880" y="2788920"/>
            <a:ext cx="1143000" cy="50292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none"/>
          </a:ln>
        </p:spPr>
      </p:sp>
      <p:sp>
        <p:nvSpPr>
          <p:cNvPr id="5" name="Shape 3"/>
          <p:cNvSpPr/>
          <p:nvPr/>
        </p:nvSpPr>
        <p:spPr>
          <a:xfrm flipH="1">
            <a:off x="3977640" y="4114800"/>
            <a:ext cx="1143000" cy="59436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7040880" y="4114800"/>
            <a:ext cx="1143000" cy="59436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6080760" y="2606040"/>
            <a:ext cx="0" cy="6400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none"/>
          </a:ln>
        </p:spPr>
      </p:sp>
      <p:sp>
        <p:nvSpPr>
          <p:cNvPr id="8" name="Text 6"/>
          <p:cNvSpPr txBox="1"/>
          <p:nvPr/>
        </p:nvSpPr>
        <p:spPr>
          <a:xfrm>
            <a:off x="4069080" y="2514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 : 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251460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 : 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06908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 : 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47548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 : 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172200" y="26974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1 : 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0" y="3246120"/>
            <a:ext cx="192024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Iglesia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tenant raíz</a:t>
            </a:r>
            <a:endParaRPr lang="en-US" sz="1200" dirty="0"/>
          </a:p>
        </p:txBody>
      </p:sp>
      <p:sp>
        <p:nvSpPr>
          <p:cNvPr id="14" name="Grupo Operación"/>
          <p:cNvSpPr/>
          <p:nvPr/>
        </p:nvSpPr>
        <p:spPr>
          <a:xfrm>
            <a:off x="4343400" y="1325880"/>
            <a:ext cx="3474720" cy="1280160"/>
          </a:xfrm>
          <a:prstGeom prst="roundRect">
            <a:avLst>
              <a:gd name="adj" fmla="val 7143"/>
            </a:avLst>
          </a:prstGeom>
          <a:solidFill>
            <a:srgbClr val="6B7A90">
              <a:alpha val="10000"/>
            </a:srgbClr>
          </a:solidFill>
          <a:ln w="12700">
            <a:solidFill>
              <a:srgbClr val="6B7A90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448056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B7A90"/>
                </a:solidFill>
              </a:rPr>
              <a:t>Operación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1783080"/>
            <a:ext cx="150876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6B7A9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PagoIglesia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126480" y="1783080"/>
            <a:ext cx="150876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6B7A90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Nota</a:t>
            </a:r>
            <a:endParaRPr lang="en-US" sz="1100" dirty="0"/>
          </a:p>
        </p:txBody>
      </p:sp>
      <p:sp>
        <p:nvSpPr>
          <p:cNvPr id="18" name="Grupo Equipo y acceso"/>
          <p:cNvSpPr/>
          <p:nvPr/>
        </p:nvSpPr>
        <p:spPr>
          <a:xfrm>
            <a:off x="502920" y="132588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1F3A5F">
              <a:alpha val="10000"/>
            </a:srgbClr>
          </a:solidFill>
          <a:ln w="12700">
            <a:solidFill>
              <a:srgbClr val="1F3A5F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64008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</a:rPr>
              <a:t>Equipo y acceso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1737360"/>
            <a:ext cx="310896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Usuario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2258568"/>
            <a:ext cx="150876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AccesoModulo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286000" y="2258568"/>
            <a:ext cx="150876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SesionActividad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2779776"/>
            <a:ext cx="150876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RefreshToken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286000" y="2779776"/>
            <a:ext cx="150876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1F3A5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PasswordResetToken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Usuario 1:N accesos, sesiones y tokens</a:t>
            </a:r>
            <a:endParaRPr lang="en-US" sz="1000" dirty="0"/>
          </a:p>
        </p:txBody>
      </p:sp>
      <p:sp>
        <p:nvSpPr>
          <p:cNvPr id="26" name="Grupo Finanzas"/>
          <p:cNvSpPr/>
          <p:nvPr/>
        </p:nvSpPr>
        <p:spPr>
          <a:xfrm>
            <a:off x="8183880" y="132588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4F7A4A">
              <a:alpha val="10000"/>
            </a:srgbClr>
          </a:solidFill>
          <a:ln w="12700">
            <a:solidFill>
              <a:srgbClr val="4F7A4A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832104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F7A4A"/>
                </a:solidFill>
              </a:rPr>
              <a:t>Finanzas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1737360"/>
            <a:ext cx="310896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4F7A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MovimientoFinanciero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366760" y="2258568"/>
            <a:ext cx="150876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4F7A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Departamento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966960" y="2258568"/>
            <a:ext cx="150876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4F7A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Categoría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366760" y="2779776"/>
            <a:ext cx="310896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4F7A4A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MovimientoAuditLog (snapshot JSON)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3246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5"/>
                </a:solidFill>
              </a:rPr>
              <a:t>Cada movimiento 1:N registros de auditoría</a:t>
            </a:r>
            <a:endParaRPr lang="en-US" sz="1000" dirty="0"/>
          </a:p>
        </p:txBody>
      </p:sp>
      <p:sp>
        <p:nvSpPr>
          <p:cNvPr id="33" name="Grupo Agenda"/>
          <p:cNvSpPr/>
          <p:nvPr/>
        </p:nvSpPr>
        <p:spPr>
          <a:xfrm>
            <a:off x="502920" y="38862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B5562B">
              <a:alpha val="10000"/>
            </a:srgbClr>
          </a:solidFill>
          <a:ln w="12700">
            <a:solidFill>
              <a:srgbClr val="B5562B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64008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5562B"/>
                </a:solidFill>
              </a:rPr>
              <a:t>Agenda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4297680"/>
            <a:ext cx="310896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B5562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Evento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4818888"/>
            <a:ext cx="310896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B5562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Predicador (link de confirmación)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5340096"/>
            <a:ext cx="310896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B5562B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AsistenciaEvento</a:t>
            </a:r>
            <a:endParaRPr lang="en-US" sz="1100" dirty="0"/>
          </a:p>
        </p:txBody>
      </p:sp>
      <p:sp>
        <p:nvSpPr>
          <p:cNvPr id="38" name="Grupo Membresía y ceremonias"/>
          <p:cNvSpPr/>
          <p:nvPr/>
        </p:nvSpPr>
        <p:spPr>
          <a:xfrm>
            <a:off x="8183880" y="388620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2E6E8E">
              <a:alpha val="10000"/>
            </a:srgbClr>
          </a:solidFill>
          <a:ln w="12700">
            <a:solidFill>
              <a:srgbClr val="2E6E8E"/>
            </a:solidFill>
            <a:prstDash val="dash"/>
          </a:ln>
        </p:spPr>
      </p:sp>
      <p:sp>
        <p:nvSpPr>
          <p:cNvPr id="39" name="Text 37"/>
          <p:cNvSpPr txBox="1"/>
          <p:nvPr/>
        </p:nvSpPr>
        <p:spPr>
          <a:xfrm>
            <a:off x="832104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E6E8E"/>
                </a:solidFill>
              </a:rPr>
              <a:t>Membresía y ceremonias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366760" y="4297680"/>
            <a:ext cx="150876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2E6E8E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Bautizo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966960" y="4297680"/>
            <a:ext cx="150876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2E6E8E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Matrimonio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366760" y="4818888"/>
            <a:ext cx="150876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2E6E8E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Presentacion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9966960" y="4818888"/>
            <a:ext cx="150876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2E6E8E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Defuncion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8366760" y="5340096"/>
            <a:ext cx="3108960" cy="384048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rgbClr val="2E6E8E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Integrante (registro por QR)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794760" y="5532120"/>
            <a:ext cx="457200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none"/>
          </a:ln>
        </p:spPr>
      </p:sp>
      <p:sp>
        <p:nvSpPr>
          <p:cNvPr id="46" name="Text 44"/>
          <p:cNvSpPr txBox="1"/>
          <p:nvPr/>
        </p:nvSpPr>
        <p:spPr>
          <a:xfrm>
            <a:off x="4206240" y="5230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Convocatoria: AsistenciaEvento N:1 Integrante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Diccionario de datos: entidades principales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58521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Entidad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Para qué sirve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Atributos principales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Iglesia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Tenant raíz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nombre, comuna, región, estado, plan (BASICO / MEDIO / PRO), próxima facturación, token del QR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Usuario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Persona con cuenta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email, rol (SUPER_ADMIN / MANAGER / USUARIO), activo, cambio de clave pendiente, iglesiaId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Evento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Culto o actividad de la agenda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título, tipo, fecha de inicio y fin, ubicación, notificar integrantes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MovimientoFinanciero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Ingreso o egreso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tipo, monto (Decimal), medio de pago, fecha, categoría, departamento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MovimientoAuditLog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Auditoría inmutable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acción (creación / edición / eliminación), snapshot JSON, usuario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Integrante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Miembro de la congregación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nombre completo, email, teléfono, RUN, miembro desde, foto</a:t>
                      </a:r>
                      <a:endParaRPr lang="en-US" sz="1400" dirty="0"/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3154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Avance del proyecto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4069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Scrum en sprints de 2 semanas: lo terminado, lo que está en curso y lo que viene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Metodología: Scrum con roles separados</a:t>
            </a:r>
            <a:endParaRPr lang="en-US" sz="3400" dirty="0"/>
          </a:p>
        </p:txBody>
      </p:sp>
      <p:sp>
        <p:nvSpPr>
          <p:cNvPr id="3" name="Rol Product Owner"/>
          <p:cNvSpPr/>
          <p:nvPr/>
        </p:nvSpPr>
        <p:spPr>
          <a:xfrm>
            <a:off x="548640" y="1417320"/>
            <a:ext cx="566928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19072"/>
            <a:ext cx="822960" cy="8229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pic>
        <p:nvPicPr>
          <p:cNvPr id="5" name="Image 0" descr="Íco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24812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28800" y="1600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Product Owner</a:t>
            </a:r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  ·  Persona 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828800" y="201168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Prioriza el Product Backlog y acepta o rechaza las historias en la Review.</a:t>
            </a:r>
            <a:endParaRPr lang="en-US" sz="1400" dirty="0"/>
          </a:p>
        </p:txBody>
      </p:sp>
      <p:sp>
        <p:nvSpPr>
          <p:cNvPr id="8" name="Rol Scrum Master"/>
          <p:cNvSpPr/>
          <p:nvPr/>
        </p:nvSpPr>
        <p:spPr>
          <a:xfrm>
            <a:off x="548640" y="2990088"/>
            <a:ext cx="566928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3291840"/>
            <a:ext cx="822960" cy="8229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pic>
        <p:nvPicPr>
          <p:cNvPr id="10" name="Image 1" descr="Ícon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34975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828800" y="3172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Scrum Master</a:t>
            </a:r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  ·  Persona 2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1828800" y="358444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Facilita la Daily, la Review y la Retro, y sigue los impedimentos.</a:t>
            </a:r>
            <a:endParaRPr lang="en-US" sz="1400" dirty="0"/>
          </a:p>
        </p:txBody>
      </p:sp>
      <p:sp>
        <p:nvSpPr>
          <p:cNvPr id="13" name="Rol Developer"/>
          <p:cNvSpPr/>
          <p:nvPr/>
        </p:nvSpPr>
        <p:spPr>
          <a:xfrm>
            <a:off x="548640" y="4562856"/>
            <a:ext cx="566928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77240" y="4864608"/>
            <a:ext cx="822960" cy="82296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pic>
        <p:nvPicPr>
          <p:cNvPr id="15" name="Image 2" descr="Ícon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507034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828800" y="47457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Developer</a:t>
            </a:r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  ·  Matías Cofré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828800" y="515721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Desarrolla el producto, unas 30 horas por semana.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583680" y="1417320"/>
            <a:ext cx="5029200" cy="4562856"/>
          </a:xfrm>
          <a:prstGeom prst="roundRect">
            <a:avLst>
              <a:gd name="adj" fmla="val 200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6858000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Cada sprint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6858000" y="21031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2 semanas, unas 60 horas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Daily de 15 minutos, de lunes a viernes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Review, Retro y Release el último día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6858000" y="3429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Definition of Done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6858000" y="388620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Código en main con la CI en verde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Desplegado, con smoke test documentado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Criterios de aceptación verificados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FEATURES.md y README al día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Cronograma del semestre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2514600" y="1371600"/>
            <a:ext cx="505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020060" y="1371600"/>
            <a:ext cx="505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020060" y="1691640"/>
            <a:ext cx="0" cy="3886200"/>
          </a:xfrm>
          <a:prstGeom prst="line">
            <a:avLst/>
          </a:prstGeom>
          <a:noFill/>
          <a:ln w="9525">
            <a:solidFill>
              <a:srgbClr val="E1E6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525520" y="1371600"/>
            <a:ext cx="505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25520" y="1691640"/>
            <a:ext cx="0" cy="3886200"/>
          </a:xfrm>
          <a:prstGeom prst="line">
            <a:avLst/>
          </a:prstGeom>
          <a:noFill/>
          <a:ln w="9525">
            <a:solidFill>
              <a:srgbClr val="E1E6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30980" y="1371600"/>
            <a:ext cx="505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30980" y="1691640"/>
            <a:ext cx="0" cy="3886200"/>
          </a:xfrm>
          <a:prstGeom prst="line">
            <a:avLst/>
          </a:prstGeom>
          <a:noFill/>
          <a:ln w="9525">
            <a:solidFill>
              <a:srgbClr val="E1E6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36440" y="1371600"/>
            <a:ext cx="505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36440" y="1691640"/>
            <a:ext cx="0" cy="3886200"/>
          </a:xfrm>
          <a:prstGeom prst="line">
            <a:avLst/>
          </a:prstGeom>
          <a:noFill/>
          <a:ln w="9525">
            <a:solidFill>
              <a:srgbClr val="E1E6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41900" y="1371600"/>
            <a:ext cx="505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41900" y="1691640"/>
            <a:ext cx="0" cy="3886200"/>
          </a:xfrm>
          <a:prstGeom prst="line">
            <a:avLst/>
          </a:prstGeom>
          <a:noFill/>
          <a:ln w="9525">
            <a:solidFill>
              <a:srgbClr val="E1E6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47360" y="1371600"/>
            <a:ext cx="505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S7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47360" y="1691640"/>
            <a:ext cx="0" cy="3886200"/>
          </a:xfrm>
          <a:prstGeom prst="line">
            <a:avLst/>
          </a:prstGeom>
          <a:noFill/>
          <a:ln w="9525">
            <a:solidFill>
              <a:srgbClr val="E1E6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2820" y="1371600"/>
            <a:ext cx="505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S8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52820" y="1691640"/>
            <a:ext cx="0" cy="3886200"/>
          </a:xfrm>
          <a:prstGeom prst="line">
            <a:avLst/>
          </a:prstGeom>
          <a:noFill/>
          <a:ln w="9525">
            <a:solidFill>
              <a:srgbClr val="E1E6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58280" y="1371600"/>
            <a:ext cx="505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58280" y="1691640"/>
            <a:ext cx="0" cy="3886200"/>
          </a:xfrm>
          <a:prstGeom prst="line">
            <a:avLst/>
          </a:prstGeom>
          <a:noFill/>
          <a:ln w="9525">
            <a:solidFill>
              <a:srgbClr val="E1E6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63740" y="1371600"/>
            <a:ext cx="505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S10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063740" y="1691640"/>
            <a:ext cx="0" cy="3886200"/>
          </a:xfrm>
          <a:prstGeom prst="line">
            <a:avLst/>
          </a:prstGeom>
          <a:noFill/>
          <a:ln w="9525">
            <a:solidFill>
              <a:srgbClr val="E1E6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69200" y="1371600"/>
            <a:ext cx="505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S11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69200" y="1691640"/>
            <a:ext cx="0" cy="3886200"/>
          </a:xfrm>
          <a:prstGeom prst="line">
            <a:avLst/>
          </a:prstGeom>
          <a:noFill/>
          <a:ln w="9525">
            <a:solidFill>
              <a:srgbClr val="E1E6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74660" y="1371600"/>
            <a:ext cx="505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S12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74660" y="1691640"/>
            <a:ext cx="0" cy="3886200"/>
          </a:xfrm>
          <a:prstGeom prst="line">
            <a:avLst/>
          </a:prstGeom>
          <a:noFill/>
          <a:ln w="9525">
            <a:solidFill>
              <a:srgbClr val="E1E6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80120" y="1371600"/>
            <a:ext cx="505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S13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580120" y="1691640"/>
            <a:ext cx="0" cy="3886200"/>
          </a:xfrm>
          <a:prstGeom prst="line">
            <a:avLst/>
          </a:prstGeom>
          <a:noFill/>
          <a:ln w="9525">
            <a:solidFill>
              <a:srgbClr val="E1E6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085580" y="1371600"/>
            <a:ext cx="505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S14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085580" y="1691640"/>
            <a:ext cx="0" cy="3886200"/>
          </a:xfrm>
          <a:prstGeom prst="line">
            <a:avLst/>
          </a:prstGeom>
          <a:noFill/>
          <a:ln w="9525">
            <a:solidFill>
              <a:srgbClr val="E1E6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591040" y="1371600"/>
            <a:ext cx="505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S15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591040" y="1691640"/>
            <a:ext cx="0" cy="3886200"/>
          </a:xfrm>
          <a:prstGeom prst="line">
            <a:avLst/>
          </a:prstGeom>
          <a:noFill/>
          <a:ln w="9525">
            <a:solidFill>
              <a:srgbClr val="E1E6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096500" y="1371600"/>
            <a:ext cx="505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S16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096500" y="1691640"/>
            <a:ext cx="0" cy="3886200"/>
          </a:xfrm>
          <a:prstGeom prst="line">
            <a:avLst/>
          </a:prstGeom>
          <a:noFill/>
          <a:ln w="9525">
            <a:solidFill>
              <a:srgbClr val="E1E6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601960" y="1371600"/>
            <a:ext cx="505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S17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601960" y="1691640"/>
            <a:ext cx="0" cy="3886200"/>
          </a:xfrm>
          <a:prstGeom prst="line">
            <a:avLst/>
          </a:prstGeom>
          <a:noFill/>
          <a:ln w="9525">
            <a:solidFill>
              <a:srgbClr val="E1E6E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1107420" y="1371600"/>
            <a:ext cx="505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S18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1107420" y="1691640"/>
            <a:ext cx="0" cy="3886200"/>
          </a:xfrm>
          <a:prstGeom prst="line">
            <a:avLst/>
          </a:prstGeom>
          <a:noFill/>
          <a:ln w="9525">
            <a:solidFill>
              <a:srgbClr val="E1E6E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Definición</a:t>
            </a:r>
            <a:endParaRPr lang="en-US" sz="1200" dirty="0"/>
          </a:p>
        </p:txBody>
      </p:sp>
      <p:sp>
        <p:nvSpPr>
          <p:cNvPr id="39" name="Barra Definición"/>
          <p:cNvSpPr/>
          <p:nvPr/>
        </p:nvSpPr>
        <p:spPr>
          <a:xfrm>
            <a:off x="2542032" y="1828800"/>
            <a:ext cx="1966976" cy="2743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" y="22585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Sprint 1 · Facturación y dashboards</a:t>
            </a:r>
            <a:endParaRPr lang="en-US" sz="1200" dirty="0"/>
          </a:p>
        </p:txBody>
      </p:sp>
      <p:sp>
        <p:nvSpPr>
          <p:cNvPr id="41" name="Barra Sprint 1 · Facturación y dashboards"/>
          <p:cNvSpPr/>
          <p:nvPr/>
        </p:nvSpPr>
        <p:spPr>
          <a:xfrm>
            <a:off x="4563872" y="2304288"/>
            <a:ext cx="956056" cy="2743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8640" y="27340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Sprint 2 · Supabase Auth</a:t>
            </a:r>
            <a:endParaRPr lang="en-US" sz="1200" dirty="0"/>
          </a:p>
        </p:txBody>
      </p:sp>
      <p:sp>
        <p:nvSpPr>
          <p:cNvPr id="43" name="Barra Sprint 2 · Supabase Auth"/>
          <p:cNvSpPr/>
          <p:nvPr/>
        </p:nvSpPr>
        <p:spPr>
          <a:xfrm>
            <a:off x="5574792" y="2779776"/>
            <a:ext cx="956056" cy="2743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48640" y="32095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Sprint 3 · RLS y staging</a:t>
            </a:r>
            <a:endParaRPr lang="en-US" sz="1200" dirty="0"/>
          </a:p>
        </p:txBody>
      </p:sp>
      <p:sp>
        <p:nvSpPr>
          <p:cNvPr id="45" name="Barra Sprint 3 · RLS y staging"/>
          <p:cNvSpPr/>
          <p:nvPr/>
        </p:nvSpPr>
        <p:spPr>
          <a:xfrm>
            <a:off x="6585712" y="3255264"/>
            <a:ext cx="956056" cy="274320"/>
          </a:xfrm>
          <a:prstGeom prst="roundRect">
            <a:avLst>
              <a:gd name="adj" fmla="val 20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48640" y="36850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Sprint 4 · QA, k6 y Realtime</a:t>
            </a:r>
            <a:endParaRPr lang="en-US" sz="1200" dirty="0"/>
          </a:p>
        </p:txBody>
      </p:sp>
      <p:sp>
        <p:nvSpPr>
          <p:cNvPr id="47" name="Barra Sprint 4 · QA, k6 y Realtime"/>
          <p:cNvSpPr/>
          <p:nvPr/>
        </p:nvSpPr>
        <p:spPr>
          <a:xfrm>
            <a:off x="7596632" y="3730752"/>
            <a:ext cx="956056" cy="27432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48640" y="4160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Sprint 5 · Correo y producción</a:t>
            </a:r>
            <a:endParaRPr lang="en-US" sz="1200" dirty="0"/>
          </a:p>
        </p:txBody>
      </p:sp>
      <p:sp>
        <p:nvSpPr>
          <p:cNvPr id="49" name="Barra Sprint 5 · Correo y producción"/>
          <p:cNvSpPr/>
          <p:nvPr/>
        </p:nvSpPr>
        <p:spPr>
          <a:xfrm>
            <a:off x="8607552" y="4206240"/>
            <a:ext cx="956056" cy="274320"/>
          </a:xfrm>
          <a:prstGeom prst="roundRect">
            <a:avLst>
              <a:gd name="adj" fmla="val 20000"/>
            </a:avLst>
          </a:prstGeom>
          <a:solidFill>
            <a:schemeClr val="accent5">
              <a:alpha val="4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548640" y="46360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Informe final</a:t>
            </a:r>
            <a:endParaRPr lang="en-US" sz="1200" dirty="0"/>
          </a:p>
        </p:txBody>
      </p:sp>
      <p:sp>
        <p:nvSpPr>
          <p:cNvPr id="51" name="Barra Informe final"/>
          <p:cNvSpPr/>
          <p:nvPr/>
        </p:nvSpPr>
        <p:spPr>
          <a:xfrm>
            <a:off x="8102092" y="4681728"/>
            <a:ext cx="1966976" cy="274320"/>
          </a:xfrm>
          <a:prstGeom prst="roundRect">
            <a:avLst>
              <a:gd name="adj" fmla="val 20000"/>
            </a:avLst>
          </a:prstGeom>
          <a:solidFill>
            <a:schemeClr val="accent5">
              <a:alpha val="4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48640" y="51114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Presentación a comisión</a:t>
            </a:r>
            <a:endParaRPr lang="en-US" sz="1200" dirty="0"/>
          </a:p>
        </p:txBody>
      </p:sp>
      <p:sp>
        <p:nvSpPr>
          <p:cNvPr id="53" name="Barra Presentación a comisión"/>
          <p:cNvSpPr/>
          <p:nvPr/>
        </p:nvSpPr>
        <p:spPr>
          <a:xfrm>
            <a:off x="10123932" y="5157216"/>
            <a:ext cx="1461516" cy="274320"/>
          </a:xfrm>
          <a:prstGeom prst="roundRect">
            <a:avLst>
              <a:gd name="adj" fmla="val 20000"/>
            </a:avLst>
          </a:prstGeom>
          <a:solidFill>
            <a:schemeClr val="accent5">
              <a:alpha val="4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428482" y="1691640"/>
            <a:ext cx="0" cy="434340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8501634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Hoy 29-10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548640" y="55961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Hitos de evaluación</a:t>
            </a:r>
            <a:endParaRPr lang="en-US" sz="1200" dirty="0"/>
          </a:p>
        </p:txBody>
      </p:sp>
      <p:sp>
        <p:nvSpPr>
          <p:cNvPr id="57" name="Hito Fase 1 · 20%"/>
          <p:cNvSpPr/>
          <p:nvPr/>
        </p:nvSpPr>
        <p:spPr>
          <a:xfrm>
            <a:off x="4164838" y="5669280"/>
            <a:ext cx="237744" cy="237744"/>
          </a:xfrm>
          <a:prstGeom prst="diamond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735070" y="5943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Fase 1 · 20%</a:t>
            </a:r>
            <a:endParaRPr lang="en-US" sz="1000" dirty="0"/>
          </a:p>
        </p:txBody>
      </p:sp>
      <p:sp>
        <p:nvSpPr>
          <p:cNvPr id="59" name="Hito Avance · 20%"/>
          <p:cNvSpPr/>
          <p:nvPr/>
        </p:nvSpPr>
        <p:spPr>
          <a:xfrm>
            <a:off x="7197598" y="5669280"/>
            <a:ext cx="237744" cy="237744"/>
          </a:xfrm>
          <a:prstGeom prst="diamond">
            <a:avLst/>
          </a:prstGeom>
          <a:solidFill>
            <a:schemeClr val="tx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767830" y="5943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Avance · 20%</a:t>
            </a:r>
            <a:endParaRPr lang="en-US" sz="1000" dirty="0"/>
          </a:p>
        </p:txBody>
      </p:sp>
      <p:sp>
        <p:nvSpPr>
          <p:cNvPr id="61" name="Hito Final · 30%"/>
          <p:cNvSpPr/>
          <p:nvPr/>
        </p:nvSpPr>
        <p:spPr>
          <a:xfrm>
            <a:off x="9724898" y="5669280"/>
            <a:ext cx="237744" cy="237744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9295130" y="5943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Final · 30%</a:t>
            </a:r>
            <a:endParaRPr lang="en-US" sz="1000" dirty="0"/>
          </a:p>
        </p:txBody>
      </p:sp>
      <p:sp>
        <p:nvSpPr>
          <p:cNvPr id="63" name="Hito Defensa · 30%"/>
          <p:cNvSpPr/>
          <p:nvPr/>
        </p:nvSpPr>
        <p:spPr>
          <a:xfrm>
            <a:off x="10735818" y="5669280"/>
            <a:ext cx="237744" cy="237744"/>
          </a:xfrm>
          <a:prstGeom prst="diamond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0306050" y="5943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Defensa · 30%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Resultados por sprint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512064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126480" y="146304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12648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903720" y="141732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Facturación, dashboards y tiempo real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903720" y="176479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v1.1.0 · 26 de 26 pts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26480" y="237744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0" y="2377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233172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Supabase Auth y WhatsApp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267919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v1.2.0 · 18 de 26 (HU-05 no aceptada)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26480" y="3291840"/>
            <a:ext cx="594360" cy="5943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126480" y="32918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903720" y="324612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RLS multi-tenant y staging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903720" y="359359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v1.3.0 · 21 de 26 (HU-12 no aceptada)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126480" y="4206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2648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903720" y="416052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QA de seguridad, k6 y Realtime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903720" y="450799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En curso · 23 pts · cierra el 30-10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126480" y="512064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126480" y="5120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903720" y="5074920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Correo, convocatorias y producción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6903720" y="5422392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02-11 al 13-11 · 23 pts · v2.0.0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Sprint 4 en curso: burndown al día 9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17320"/>
          <a:ext cx="694944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863840" y="1417320"/>
            <a:ext cx="3749040" cy="182880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92440" y="15544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8092440" y="2468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restantes al 29-10; la línea ideal marca 5,5 h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347472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HU-29: carga con k6 hecha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HU-21: seguridad hecha; criterio 2 en discusión (npm audit)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HU-32: QA funcional por rol hecho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HU-24: Realtime con Broadcast funcionando en staging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Faltan 4 h: informe, Review, Retro y Release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QA en staging: qué encontramos</a:t>
            </a:r>
            <a:endParaRPr lang="en-US" sz="3400" dirty="0"/>
          </a:p>
        </p:txBody>
      </p:sp>
      <p:sp>
        <p:nvSpPr>
          <p:cNvPr id="3" name="Resultado errores 5xx"/>
          <p:cNvSpPr/>
          <p:nvPr/>
        </p:nvSpPr>
        <p:spPr>
          <a:xfrm>
            <a:off x="548640" y="1417320"/>
            <a:ext cx="260604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errores 5xx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880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666 requests con 15 y 20 usuarios virtuales simultáneos (k6)</a:t>
            </a:r>
            <a:endParaRPr lang="en-US" sz="1300" dirty="0"/>
          </a:p>
        </p:txBody>
      </p:sp>
      <p:sp>
        <p:nvSpPr>
          <p:cNvPr id="7" name="Resultado p95 del login"/>
          <p:cNvSpPr/>
          <p:nvPr/>
        </p:nvSpPr>
        <p:spPr>
          <a:xfrm>
            <a:off x="3364992" y="1417320"/>
            <a:ext cx="260604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3592" y="1600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 s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p95 del login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93592" y="2880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bajo carga, con el rate limit de 10 por minuto activo</a:t>
            </a:r>
            <a:endParaRPr lang="en-US" sz="1300" dirty="0"/>
          </a:p>
        </p:txBody>
      </p:sp>
      <p:sp>
        <p:nvSpPr>
          <p:cNvPr id="11" name="Resultado inyecciones SQL"/>
          <p:cNvSpPr/>
          <p:nvPr/>
        </p:nvSpPr>
        <p:spPr>
          <a:xfrm>
            <a:off x="6181344" y="1417320"/>
            <a:ext cx="260604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9944" y="1600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6409944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inyecciones SQL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9944" y="2880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el WAF de Cloudflare bloquea y Prisma parametriza</a:t>
            </a:r>
            <a:endParaRPr lang="en-US" sz="1300" dirty="0"/>
          </a:p>
        </p:txBody>
      </p:sp>
      <p:sp>
        <p:nvSpPr>
          <p:cNvPr id="15" name="Resultado bugs de RLS corregidos"/>
          <p:cNvSpPr/>
          <p:nvPr/>
        </p:nvSpPr>
        <p:spPr>
          <a:xfrm>
            <a:off x="8997696" y="1417320"/>
            <a:ext cx="2606040" cy="2377440"/>
          </a:xfrm>
          <a:prstGeom prst="roundRect">
            <a:avLst>
              <a:gd name="adj" fmla="val 3846"/>
            </a:avLst>
          </a:prstGeom>
          <a:solidFill>
            <a:schemeClr val="accent1">
              <a:alpha val="20000"/>
            </a:schemeClr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26296" y="1600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9226296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bugs de RLS corregidos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226296" y="2880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encontrados por las pruebas por rol, antes de producción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069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También verificado contra el servidor real, y en la base de datos, no solo por el código HTTP</a:t>
            </a:r>
            <a:endParaRPr lang="en-US" sz="1600" dirty="0"/>
          </a:p>
        </p:txBody>
      </p:sp>
      <p:pic>
        <p:nvPicPr>
          <p:cNvPr id="20" name="Image 0" descr="Verifica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36008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960120" y="45720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Límites de plan: usuarios y departamentos por plan</a:t>
            </a:r>
            <a:endParaRPr lang="en-US" sz="1400" dirty="0"/>
          </a:p>
        </p:txBody>
      </p:sp>
      <p:pic>
        <p:nvPicPr>
          <p:cNvPr id="22" name="Image 1" descr="Verifica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4636008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583680" y="45720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Cambio de contraseña obligatorio en el primer ingreso</a:t>
            </a:r>
            <a:endParaRPr lang="en-US" sz="1400" dirty="0"/>
          </a:p>
        </p:txBody>
      </p:sp>
      <p:pic>
        <p:nvPicPr>
          <p:cNvPr id="24" name="Image 2" descr="Verificad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138928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960120" y="50749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Certificados PDF: caché, invalidación y 403 entre iglesias</a:t>
            </a:r>
            <a:endParaRPr lang="en-US" sz="1400" dirty="0"/>
          </a:p>
        </p:txBody>
      </p:sp>
      <p:pic>
        <p:nvPicPr>
          <p:cNvPr id="26" name="Image 3" descr="Verificad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5138928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6583680" y="50749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Registro por QR: duplicados sin enumeración</a:t>
            </a:r>
            <a:endParaRPr lang="en-US" sz="1400" dirty="0"/>
          </a:p>
        </p:txBody>
      </p:sp>
      <p:pic>
        <p:nvPicPr>
          <p:cNvPr id="28" name="Image 4" descr="Verificad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641848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60120" y="55778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Refresh token: el reuso de un token antiguo se rechaza</a:t>
            </a:r>
            <a:endParaRPr lang="en-US" sz="1400" dirty="0"/>
          </a:p>
        </p:txBody>
      </p:sp>
      <p:pic>
        <p:nvPicPr>
          <p:cNvPr id="30" name="Image 5" descr="Verificad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5641848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583680" y="55778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Realtime: otra iglesia recibe CHANNEL_ERROR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Impedimentos y decisiones</a:t>
            </a:r>
            <a:endParaRPr lang="en-US" sz="3400" dirty="0"/>
          </a:p>
        </p:txBody>
      </p:sp>
      <p:sp>
        <p:nvSpPr>
          <p:cNvPr id="3" name="Impedimento IMP-09"/>
          <p:cNvSpPr/>
          <p:nvPr/>
        </p:nvSpPr>
        <p:spPr>
          <a:xfrm>
            <a:off x="548640" y="1417320"/>
            <a:ext cx="74066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IMP-09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691640" y="145389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Meta no aprobó la plantilla de WhatsApp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HU-05 no se acepta y vuelve al backlog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1572768"/>
            <a:ext cx="114300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Escalado</a:t>
            </a:r>
            <a:endParaRPr lang="en-US" sz="1100" dirty="0"/>
          </a:p>
        </p:txBody>
      </p:sp>
      <p:sp>
        <p:nvSpPr>
          <p:cNvPr id="7" name="Impedimento IMP-13"/>
          <p:cNvSpPr/>
          <p:nvPr/>
        </p:nvSpPr>
        <p:spPr>
          <a:xfrm>
            <a:off x="548640" y="2176272"/>
            <a:ext cx="74066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176272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IMP-13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21284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Límite de 2 proyectos gratis en Supabase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Se pausó el proyecto de prueba de Auth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2331720"/>
            <a:ext cx="1143000" cy="329184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Resuelto</a:t>
            </a:r>
            <a:endParaRPr lang="en-US" sz="1100" dirty="0"/>
          </a:p>
        </p:txBody>
      </p:sp>
      <p:sp>
        <p:nvSpPr>
          <p:cNvPr id="11" name="Impedimento IMP-15"/>
          <p:cNvSpPr/>
          <p:nvPr/>
        </p:nvSpPr>
        <p:spPr>
          <a:xfrm>
            <a:off x="548640" y="2935224"/>
            <a:ext cx="74066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935224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IMP-15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297180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Cookies cross-site bloqueadas en móvil y Safari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Dominio propio en el Sprint 5 (HU-25)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090672"/>
            <a:ext cx="114300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Escalado</a:t>
            </a:r>
            <a:endParaRPr lang="en-US" sz="1100" dirty="0"/>
          </a:p>
        </p:txBody>
      </p:sp>
      <p:sp>
        <p:nvSpPr>
          <p:cNvPr id="15" name="Impedimento IMP-16"/>
          <p:cNvSpPr/>
          <p:nvPr/>
        </p:nvSpPr>
        <p:spPr>
          <a:xfrm>
            <a:off x="548640" y="3694176"/>
            <a:ext cx="74066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694176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IMP-16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373075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El cron de facturación no se puede ejecutar a mano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Probarlo en un contexto local de Nest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3849624"/>
            <a:ext cx="114300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Abierto</a:t>
            </a:r>
            <a:endParaRPr lang="en-US" sz="1100" dirty="0"/>
          </a:p>
        </p:txBody>
      </p:sp>
      <p:sp>
        <p:nvSpPr>
          <p:cNvPr id="19" name="Impedimento IMP-17"/>
          <p:cNvSpPr/>
          <p:nvPr/>
        </p:nvSpPr>
        <p:spPr>
          <a:xfrm>
            <a:off x="548640" y="4453128"/>
            <a:ext cx="740664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4531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IMP-17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448970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npm audit exige subir versiones mayores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Actualización aparte, desde el backlog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4608576"/>
            <a:ext cx="1143000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Escalado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29600" y="1417320"/>
            <a:ext cx="3383280" cy="3685032"/>
          </a:xfrm>
          <a:prstGeom prst="roundRect">
            <a:avLst>
              <a:gd name="adj" fmla="val 270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03920" y="1691640"/>
            <a:ext cx="731520" cy="731520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pic>
        <p:nvPicPr>
          <p:cNvPr id="25" name="Image 0" descr="Íco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1874520"/>
            <a:ext cx="365760" cy="36576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8503920" y="26060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Rigor de la Definition of Done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8503920" y="310896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HU-05 y HU-12 no se aceptaron aunque sus tareas estaban hechas: una historia solo cuenta si cumple todos sus criterios.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17 impedimentos registrados en 4 sprints, con su impacto, acción y estado en el registro de cada sprint.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Próximos pasos</a:t>
            </a:r>
            <a:endParaRPr lang="en-US" sz="3400" dirty="0"/>
          </a:p>
        </p:txBody>
      </p:sp>
      <p:sp>
        <p:nvSpPr>
          <p:cNvPr id="3" name="Paso Cierre del Sprint 4"/>
          <p:cNvSpPr/>
          <p:nvPr/>
        </p:nvSpPr>
        <p:spPr>
          <a:xfrm>
            <a:off x="548640" y="1417320"/>
            <a:ext cx="3520440" cy="384048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pic>
        <p:nvPicPr>
          <p:cNvPr id="5" name="Image 0" descr="Ícon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45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30-10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Cierre del Sprint 4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60604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Review, Retro y Release v1.4.0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Decidir si HU-21 se acepta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Product Backlog v1.7</a:t>
            </a:r>
            <a:endParaRPr lang="en-US" sz="1400" dirty="0"/>
          </a:p>
        </p:txBody>
      </p:sp>
      <p:sp>
        <p:nvSpPr>
          <p:cNvPr id="9" name="Paso Sprint 5 → v2.0.0"/>
          <p:cNvSpPr/>
          <p:nvPr/>
        </p:nvSpPr>
        <p:spPr>
          <a:xfrm>
            <a:off x="4297680" y="1417320"/>
            <a:ext cx="3520440" cy="3840480"/>
          </a:xfrm>
          <a:prstGeom prst="roundRect">
            <a:avLst>
              <a:gd name="adj" fmla="val 2597"/>
            </a:avLst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1645920"/>
            <a:ext cx="731520" cy="731520"/>
          </a:xfrm>
          <a:prstGeom prst="ellipse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</p:sp>
      <p:pic>
        <p:nvPicPr>
          <p:cNvPr id="11" name="Image 1" descr="Ícon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288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40680" y="1645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02-11 al 13-11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544068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Sprint 5 → v2.0.0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260604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Correo con Resend: recuperar contraseña y correo al predicador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Estado de convocatoria y asistencia en vivo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Rate limit por cuenta y docker-compose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Dominio propio: app. y api.evangelicapp.cl</a:t>
            </a:r>
            <a:endParaRPr lang="en-US" sz="1400" dirty="0"/>
          </a:p>
        </p:txBody>
      </p:sp>
      <p:sp>
        <p:nvSpPr>
          <p:cNvPr id="15" name="Paso Cierre académico"/>
          <p:cNvSpPr/>
          <p:nvPr/>
        </p:nvSpPr>
        <p:spPr>
          <a:xfrm>
            <a:off x="8046720" y="1417320"/>
            <a:ext cx="3520440" cy="384048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21040" y="1645920"/>
            <a:ext cx="731520" cy="731520"/>
          </a:xfrm>
          <a:prstGeom prst="ellipse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pic>
        <p:nvPicPr>
          <p:cNvPr id="17" name="Image 2" descr="Ícon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8288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189720" y="16459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S15 a S17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9189720" y="1965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Cierre académico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260604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Informe final (30%) en la S15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Retrospectiva del proyecto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Defensa ante comisión (30%) en la S17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5440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Pendientes en el backlog: WhatsApp (HU-05), fecha del consentimiento antes del 01-12-2026, cuando rige la Ley 21.719 (HU-12), actualización de dependencias y marcha blanca con una iglesia piloto después del S14.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Gracias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375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¿Preguntas?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120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EvangelicApp · Matías Cofré · Proyecto APT 2026-2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549640" y="1691640"/>
            <a:ext cx="2926080" cy="2926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Ícono de igles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3774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vangelicApp">
  <a:themeElements>
    <a:clrScheme name="EvangelicApp">
      <a:dk1>
        <a:srgbClr val="1B2433"/>
      </a:dk1>
      <a:lt1>
        <a:srgbClr val="FFFFFF"/>
      </a:lt1>
      <a:dk2>
        <a:srgbClr val="1F3A5F"/>
      </a:dk2>
      <a:lt2>
        <a:srgbClr val="EEF2F8"/>
      </a:lt2>
      <a:accent1>
        <a:srgbClr val="C8963E"/>
      </a:accent1>
      <a:accent2>
        <a:srgbClr val="2E6E8E"/>
      </a:accent2>
      <a:accent3>
        <a:srgbClr val="4F7A4A"/>
      </a:accent3>
      <a:accent4>
        <a:srgbClr val="B5562B"/>
      </a:accent4>
      <a:accent5>
        <a:srgbClr val="6B7A90"/>
      </a:accent5>
      <a:accent6>
        <a:srgbClr val="7A5C99"/>
      </a:accent6>
      <a:hlink>
        <a:srgbClr val="2E6E8E"/>
      </a:hlink>
      <a:folHlink>
        <a:srgbClr val="7A5C99"/>
      </a:folHlink>
    </a:clrScheme>
    <a:fontScheme name="EvangelicAp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EvangelicApp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EvangelicApp — Presentación de avance</dc:title>
  <dc:subject>PptxGenJS Presentation</dc:subject>
  <dc:creator>Matías Cofré</dc:creator>
  <cp:lastModifiedBy>Matías Cofré</cp:lastModifiedBy>
  <cp:revision>1</cp:revision>
  <dcterms:created xsi:type="dcterms:W3CDTF">2026-10-29T13:55:25Z</dcterms:created>
  <dcterms:modified xsi:type="dcterms:W3CDTF">2026-10-29T13:55:25Z</dcterms:modified>
</cp:coreProperties>
</file>